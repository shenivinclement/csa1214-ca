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</p:sldIdLst>
  <p:sldSz cx="12193588" cy="6858000"/>
  <p:notesSz cx="12193588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hdr"/>
          </p:nvPr>
        </p:nvSpPr>
        <p:spPr>
          <a:xfrm>
            <a:off x="0" y="-360"/>
            <a:ext cx="5283360" cy="344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6905520" y="-360"/>
            <a:ext cx="5283360" cy="344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200" b="0" strike="noStrike" spc="-1">
                <a:solidFill>
                  <a:srgbClr val="000000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4800" cy="23148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1F497D"/>
                </a:solidFill>
                <a:latin typeface="Calibri"/>
              </a:rPr>
              <a:t>Click to move the slide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1218960" y="3300120"/>
            <a:ext cx="9753480" cy="27003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Click to edit the notes format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0" y="6513120"/>
            <a:ext cx="5283360" cy="344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6905520" y="6513120"/>
            <a:ext cx="5283360" cy="344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977E4F4-A5B5-4D9C-89E6-40B5C201E71E}" type="slidenum">
              <a:rPr lang="en-IN" sz="12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B2884F0-4AA9-45DB-9AC2-3A7642591E9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39320" y="547560"/>
            <a:ext cx="11068200" cy="11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1F497D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63120" y="1619280"/>
            <a:ext cx="11006280" cy="479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45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457200" lvl="1">
              <a:spcBef>
                <a:spcPts val="451"/>
              </a:spcBef>
              <a:buClr>
                <a:srgbClr val="000000"/>
              </a:buClr>
              <a:buFont typeface="Calibri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914400" lvl="2">
              <a:spcBef>
                <a:spcPts val="451"/>
              </a:spcBef>
              <a:buClr>
                <a:srgbClr val="000000"/>
              </a:buClr>
              <a:buFont typeface="Calibri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371600" lvl="3">
              <a:spcBef>
                <a:spcPts val="451"/>
              </a:spcBef>
              <a:buClr>
                <a:srgbClr val="000000"/>
              </a:buClr>
              <a:buFont typeface="Calibri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1828800" lvl="4">
              <a:spcBef>
                <a:spcPts val="451"/>
              </a:spcBef>
              <a:buClr>
                <a:srgbClr val="000000"/>
              </a:buClr>
              <a:buFont typeface="Calibri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1828800" lvl="5">
              <a:spcBef>
                <a:spcPts val="451"/>
              </a:spcBef>
              <a:buClr>
                <a:srgbClr val="000000"/>
              </a:buClr>
              <a:buFont typeface="Calibri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1828800" lvl="6">
              <a:spcBef>
                <a:spcPts val="451"/>
              </a:spcBef>
              <a:buClr>
                <a:srgbClr val="000000"/>
              </a:buClr>
              <a:buFont typeface="Calibri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911160" y="6467400"/>
            <a:ext cx="682560" cy="31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236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marL="12600" indent="0">
              <a:lnSpc>
                <a:spcPts val="1236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24.06.2026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2"/>
          </p:nvPr>
        </p:nvSpPr>
        <p:spPr>
          <a:xfrm>
            <a:off x="5462280" y="6467400"/>
            <a:ext cx="1266840" cy="17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236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marL="12600" indent="0">
              <a:lnSpc>
                <a:spcPts val="1236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CAPSTONE PROJECT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11101320" y="6467400"/>
            <a:ext cx="217440" cy="17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236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marL="12600" indent="0">
              <a:lnSpc>
                <a:spcPts val="1236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F6B9105-BD5D-4469-B38D-61BB7B2BB73A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280" y="1347480"/>
            <a:ext cx="11096640" cy="2341440"/>
          </a:xfrm>
          <a:prstGeom prst="rect">
            <a:avLst/>
          </a:prstGeom>
          <a:noFill/>
          <a:ln w="0">
            <a:noFill/>
          </a:ln>
        </p:spPr>
        <p:txBody>
          <a:bodyPr lIns="0" tIns="147240" rIns="0" bIns="0" anchor="t">
            <a:noAutofit/>
          </a:bodyPr>
          <a:lstStyle/>
          <a:p>
            <a:pPr marL="1168560" indent="-1155960" algn="ctr">
              <a:lnSpc>
                <a:spcPct val="100000"/>
              </a:lnSpc>
              <a:spcBef>
                <a:spcPts val="600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WEB-BASED 8085/8086 VIRTUAL TRAINER &amp; ASSEMBLER-SIMULATOR</a:t>
            </a:r>
            <a:endParaRPr lang="en-US" sz="4000" b="0" strike="noStrike" spc="-1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13" name="object 3"/>
          <p:cNvSpPr/>
          <p:nvPr/>
        </p:nvSpPr>
        <p:spPr>
          <a:xfrm>
            <a:off x="-1647023" y="2840039"/>
            <a:ext cx="13486650" cy="4131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 anchor="t">
            <a:spAutoFit/>
          </a:bodyPr>
          <a:lstStyle/>
          <a:p>
            <a:pPr marL="2523960" algn="ctr">
              <a:lnSpc>
                <a:spcPct val="118000"/>
              </a:lnSpc>
              <a:spcBef>
                <a:spcPts val="99"/>
              </a:spcBef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500" b="1" spc="-1" dirty="0">
                <a:solidFill>
                  <a:srgbClr val="000000"/>
                </a:solidFill>
                <a:latin typeface="Times New Roman"/>
                <a:ea typeface="Times New Roman"/>
              </a:rPr>
              <a:t>CSA1214</a:t>
            </a:r>
            <a:r>
              <a:rPr lang="en-US" sz="25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IN" sz="2500" b="1" spc="-1" dirty="0">
                <a:solidFill>
                  <a:srgbClr val="000000"/>
                </a:solidFill>
                <a:latin typeface="Times New Roman"/>
                <a:ea typeface="Times New Roman"/>
              </a:rPr>
              <a:t>Computer Architecture 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  <a:p>
            <a:pPr marL="2523960" algn="ctr">
              <a:lnSpc>
                <a:spcPct val="118000"/>
              </a:lnSpc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  Course Faculty : </a:t>
            </a:r>
            <a:r>
              <a:rPr lang="en-IN" sz="2000" b="1" spc="-1" dirty="0">
                <a:solidFill>
                  <a:srgbClr val="000000"/>
                </a:solidFill>
                <a:latin typeface="Times New Roman"/>
                <a:ea typeface="Times New Roman"/>
              </a:rPr>
              <a:t>Radhika S</a:t>
            </a:r>
          </a:p>
          <a:p>
            <a:pPr marL="2523960" algn="ctr">
              <a:lnSpc>
                <a:spcPct val="118000"/>
              </a:lnSpc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000" b="1" spc="-1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marL="2523960" algn="ctr">
              <a:lnSpc>
                <a:spcPct val="118000"/>
              </a:lnSpc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000" b="1" spc="-1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marL="2523960" algn="ctr">
              <a:lnSpc>
                <a:spcPct val="118000"/>
              </a:lnSpc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spc="-1" dirty="0">
              <a:solidFill>
                <a:srgbClr val="000000"/>
              </a:solidFill>
              <a:latin typeface="Arial"/>
              <a:ea typeface="Times New Roman"/>
            </a:endParaRPr>
          </a:p>
          <a:p>
            <a:pPr marL="2523960" algn="ctr">
              <a:lnSpc>
                <a:spcPct val="118000"/>
              </a:lnSpc>
              <a:spcBef>
                <a:spcPts val="99"/>
              </a:spcBef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                                                                                                     BY : </a:t>
            </a:r>
            <a:r>
              <a:rPr lang="en-IN" sz="20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Shen Ivin Clement (</a:t>
            </a: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192371023)</a:t>
            </a:r>
            <a:br>
              <a:rPr lang="en-US" sz="20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</a:b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                                                                                                             Sri Ram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Vekatesan</a:t>
            </a: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(192372116)</a:t>
            </a:r>
          </a:p>
          <a:p>
            <a:pPr marL="2523960" algn="ctr">
              <a:lnSpc>
                <a:spcPct val="118000"/>
              </a:lnSpc>
              <a:spcBef>
                <a:spcPts val="99"/>
              </a:spcBef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  <a:ea typeface="Times New Roman"/>
              </a:rPr>
              <a:t>                                                                                                   </a:t>
            </a:r>
            <a:r>
              <a:rPr lang="en-US" sz="2000" b="1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U.teja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2000" b="1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gowd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  <a:ea typeface="Times New Roman"/>
              </a:rPr>
              <a:t> (192572059)</a:t>
            </a:r>
            <a:endParaRPr lang="en-US" sz="2000" b="1" strike="noStrike" spc="-1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marL="2523960" algn="ctr">
              <a:lnSpc>
                <a:spcPct val="118000"/>
              </a:lnSpc>
              <a:spcBef>
                <a:spcPts val="99"/>
              </a:spcBef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523960" algn="ctr">
              <a:lnSpc>
                <a:spcPct val="118000"/>
              </a:lnSpc>
              <a:spcBef>
                <a:spcPts val="99"/>
              </a:spcBef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523960" algn="ctr">
              <a:lnSpc>
                <a:spcPct val="118000"/>
              </a:lnSpc>
              <a:spcBef>
                <a:spcPts val="99"/>
              </a:spcBef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			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" name="object 4"/>
          <p:cNvPicPr/>
          <p:nvPr/>
        </p:nvPicPr>
        <p:blipFill>
          <a:blip r:embed="rId2"/>
          <a:stretch/>
        </p:blipFill>
        <p:spPr>
          <a:xfrm>
            <a:off x="1211400" y="169920"/>
            <a:ext cx="10037520" cy="1030320"/>
          </a:xfrm>
          <a:prstGeom prst="rect">
            <a:avLst/>
          </a:prstGeom>
          <a:ln w="0">
            <a:noFill/>
          </a:ln>
        </p:spPr>
      </p:pic>
      <p:sp>
        <p:nvSpPr>
          <p:cNvPr id="15" name="object 5"/>
          <p:cNvSpPr/>
          <p:nvPr/>
        </p:nvSpPr>
        <p:spPr>
          <a:xfrm>
            <a:off x="609480" y="6467400"/>
            <a:ext cx="9842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27.07.2026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462640" y="6467400"/>
            <a:ext cx="12668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CAPSTONE PROJECT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object 7"/>
          <p:cNvSpPr/>
          <p:nvPr/>
        </p:nvSpPr>
        <p:spPr>
          <a:xfrm>
            <a:off x="11101320" y="6467400"/>
            <a:ext cx="2174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F05E491-B4E0-45B2-9AFC-DECC07568C7F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-1524240" y="596520"/>
            <a:ext cx="10458360" cy="1182600"/>
          </a:xfrm>
          <a:prstGeom prst="rect">
            <a:avLst/>
          </a:prstGeom>
          <a:noFill/>
          <a:ln w="0">
            <a:noFill/>
          </a:ln>
        </p:spPr>
        <p:txBody>
          <a:bodyPr lIns="0" tIns="252720" rIns="0" bIns="0" anchor="t">
            <a:noAutofit/>
          </a:bodyPr>
          <a:lstStyle/>
          <a:p>
            <a:pPr marL="477504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AGENDA</a:t>
            </a:r>
            <a:endParaRPr lang="en-US" sz="4400" b="0" strike="noStrike" spc="-1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19" name="object 3"/>
          <p:cNvSpPr/>
          <p:nvPr/>
        </p:nvSpPr>
        <p:spPr>
          <a:xfrm>
            <a:off x="1370160" y="1911240"/>
            <a:ext cx="11615760" cy="220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Project Overview &amp; Background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System Architecture &amp; Module Design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Module Implementation (Assembler, CPU Engine, UI/Debugger)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Conclusion and Future Scope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" name="object 4"/>
          <p:cNvPicPr/>
          <p:nvPr/>
        </p:nvPicPr>
        <p:blipFill>
          <a:blip r:embed="rId2"/>
          <a:stretch/>
        </p:blipFill>
        <p:spPr>
          <a:xfrm>
            <a:off x="291636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21" name="object 5"/>
          <p:cNvSpPr/>
          <p:nvPr/>
        </p:nvSpPr>
        <p:spPr>
          <a:xfrm>
            <a:off x="911160" y="6467400"/>
            <a:ext cx="9176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27.07.2026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object 6"/>
          <p:cNvSpPr/>
          <p:nvPr/>
        </p:nvSpPr>
        <p:spPr>
          <a:xfrm>
            <a:off x="5462640" y="6467400"/>
            <a:ext cx="12668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CAPSTONE PROJECT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object 7"/>
          <p:cNvSpPr/>
          <p:nvPr/>
        </p:nvSpPr>
        <p:spPr>
          <a:xfrm>
            <a:off x="11101320" y="6467400"/>
            <a:ext cx="2174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8894B9B-87F5-41CA-81B1-C220E58BCC12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-1752480" y="664920"/>
            <a:ext cx="11067840" cy="1182600"/>
          </a:xfrm>
          <a:prstGeom prst="rect">
            <a:avLst/>
          </a:prstGeom>
          <a:noFill/>
          <a:ln w="0">
            <a:noFill/>
          </a:ln>
        </p:spPr>
        <p:txBody>
          <a:bodyPr lIns="0" tIns="252720" rIns="0" bIns="0" anchor="t">
            <a:noAutofit/>
          </a:bodyPr>
          <a:lstStyle/>
          <a:p>
            <a:pPr marL="38448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OVERVIEW</a:t>
            </a:r>
            <a:endParaRPr lang="en-US" sz="4400" b="0" strike="noStrike" spc="-1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32" name="object 3"/>
          <p:cNvSpPr/>
          <p:nvPr/>
        </p:nvSpPr>
        <p:spPr>
          <a:xfrm>
            <a:off x="650880" y="1523880"/>
            <a:ext cx="11125080" cy="440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Delivers a browser-based virtual trainer for writing, assembling, and executing 8085/8086 assembly programs -- no physical trainer kit or software install required.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Integrates three subsystems: an Assembler &amp; Instruction Decoder, a CPU Execution Engine, and a Web UI &amp; Debugger.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The assembler performs lexical analysis and opcode-table lookup to translate mnemonics and operands into byte-accurate machine code.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The UI renders a real-time execution trace with step controls, turning an abstract instruction set into a visible, explorable process.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object 4"/>
          <p:cNvPicPr/>
          <p:nvPr/>
        </p:nvPicPr>
        <p:blipFill>
          <a:blip r:embed="rId2"/>
          <a:stretch/>
        </p:blipFill>
        <p:spPr>
          <a:xfrm>
            <a:off x="3438360" y="168120"/>
            <a:ext cx="5313600" cy="544680"/>
          </a:xfrm>
          <a:prstGeom prst="rect">
            <a:avLst/>
          </a:prstGeom>
          <a:ln w="0">
            <a:noFill/>
          </a:ln>
        </p:spPr>
      </p:pic>
      <p:sp>
        <p:nvSpPr>
          <p:cNvPr id="34" name="object 5"/>
          <p:cNvSpPr/>
          <p:nvPr/>
        </p:nvSpPr>
        <p:spPr>
          <a:xfrm>
            <a:off x="685800" y="6467400"/>
            <a:ext cx="90792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27.07.2026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object 6"/>
          <p:cNvSpPr/>
          <p:nvPr/>
        </p:nvSpPr>
        <p:spPr>
          <a:xfrm>
            <a:off x="5462640" y="6467400"/>
            <a:ext cx="12668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CAPSTONE PROJECT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object 7"/>
          <p:cNvSpPr/>
          <p:nvPr/>
        </p:nvSpPr>
        <p:spPr>
          <a:xfrm>
            <a:off x="11101320" y="6467400"/>
            <a:ext cx="2174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30C27A3-E2D9-411F-A1EB-BC1FBB6515B6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-1752480" y="664920"/>
            <a:ext cx="11067840" cy="1182600"/>
          </a:xfrm>
          <a:prstGeom prst="rect">
            <a:avLst/>
          </a:prstGeom>
          <a:noFill/>
          <a:ln w="0">
            <a:noFill/>
          </a:ln>
        </p:spPr>
        <p:txBody>
          <a:bodyPr lIns="0" tIns="252720" rIns="0" bIns="0" anchor="t">
            <a:noAutofit/>
          </a:bodyPr>
          <a:lstStyle/>
          <a:p>
            <a:pPr marL="38448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BACKGROUND</a:t>
            </a:r>
            <a:endParaRPr lang="en-US" sz="4400" b="0" strike="noStrike" spc="-1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32" name="object 3"/>
          <p:cNvSpPr/>
          <p:nvPr/>
        </p:nvSpPr>
        <p:spPr>
          <a:xfrm>
            <a:off x="650880" y="1523880"/>
            <a:ext cx="11125080" cy="440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8085/8086 microprocessor fundamentals remain core to embedded-systems and computer-architecture curricula.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Hands-on practice traditionally depends on physical trainer kits or licensed desktop simulators, both limited in access.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A browser-based tool removes installation barriers -- any device with a browser becomes a working assembly lab.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The system mirrors a real toolchain as a pipeline: source code, assembler/decoder, CPU engine, visual debugger.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object 4"/>
          <p:cNvPicPr/>
          <p:nvPr/>
        </p:nvPicPr>
        <p:blipFill>
          <a:blip r:embed="rId2"/>
          <a:stretch/>
        </p:blipFill>
        <p:spPr>
          <a:xfrm>
            <a:off x="3438360" y="168120"/>
            <a:ext cx="5313600" cy="544680"/>
          </a:xfrm>
          <a:prstGeom prst="rect">
            <a:avLst/>
          </a:prstGeom>
          <a:ln w="0">
            <a:noFill/>
          </a:ln>
        </p:spPr>
      </p:pic>
      <p:sp>
        <p:nvSpPr>
          <p:cNvPr id="34" name="object 5"/>
          <p:cNvSpPr/>
          <p:nvPr/>
        </p:nvSpPr>
        <p:spPr>
          <a:xfrm>
            <a:off x="685800" y="6467400"/>
            <a:ext cx="90792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27.07.2026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object 6"/>
          <p:cNvSpPr/>
          <p:nvPr/>
        </p:nvSpPr>
        <p:spPr>
          <a:xfrm>
            <a:off x="5462640" y="6467400"/>
            <a:ext cx="12668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CAPSTONE PROJECT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object 7"/>
          <p:cNvSpPr/>
          <p:nvPr/>
        </p:nvSpPr>
        <p:spPr>
          <a:xfrm>
            <a:off x="11101320" y="6467400"/>
            <a:ext cx="2174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30C27A3-E2D9-411F-A1EB-BC1FBB6515B6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-1752480" y="664920"/>
            <a:ext cx="11067840" cy="1182600"/>
          </a:xfrm>
          <a:prstGeom prst="rect">
            <a:avLst/>
          </a:prstGeom>
          <a:noFill/>
          <a:ln w="0">
            <a:noFill/>
          </a:ln>
        </p:spPr>
        <p:txBody>
          <a:bodyPr lIns="0" tIns="252720" rIns="0" bIns="0" anchor="t">
            <a:noAutofit/>
          </a:bodyPr>
          <a:lstStyle/>
          <a:p>
            <a:pPr marL="38448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PROBLEM STATEMENT &amp; MOTIVATION</a:t>
            </a:r>
            <a:endParaRPr lang="en-US" sz="3600" b="0" strike="noStrike" spc="-1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32" name="object 3"/>
          <p:cNvSpPr/>
          <p:nvPr/>
        </p:nvSpPr>
        <p:spPr>
          <a:xfrm>
            <a:off x="650880" y="2032000"/>
            <a:ext cx="11125080" cy="440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Physical trainer kits are costly and limited; desktop simulators need local installs and are OS-dependent.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Most tools show only final register values, not how parsing, opcode formation, or flag updates actually happen.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Students frequently misunderstand addressing modes and flag behaviour due to this lack of visibility.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Goal: a zero-install, browser-based trainer exposing every pipeline stage with a real-time fetch-decode-execute trace.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object 4"/>
          <p:cNvPicPr/>
          <p:nvPr/>
        </p:nvPicPr>
        <p:blipFill>
          <a:blip r:embed="rId2"/>
          <a:stretch/>
        </p:blipFill>
        <p:spPr>
          <a:xfrm>
            <a:off x="3438360" y="168120"/>
            <a:ext cx="5313600" cy="544680"/>
          </a:xfrm>
          <a:prstGeom prst="rect">
            <a:avLst/>
          </a:prstGeom>
          <a:ln w="0">
            <a:noFill/>
          </a:ln>
        </p:spPr>
      </p:pic>
      <p:sp>
        <p:nvSpPr>
          <p:cNvPr id="34" name="object 5"/>
          <p:cNvSpPr/>
          <p:nvPr/>
        </p:nvSpPr>
        <p:spPr>
          <a:xfrm>
            <a:off x="685800" y="6467400"/>
            <a:ext cx="90792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27.07.2026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object 6"/>
          <p:cNvSpPr/>
          <p:nvPr/>
        </p:nvSpPr>
        <p:spPr>
          <a:xfrm>
            <a:off x="5462640" y="6467400"/>
            <a:ext cx="12668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CAPSTONE PROJECT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object 7"/>
          <p:cNvSpPr/>
          <p:nvPr/>
        </p:nvSpPr>
        <p:spPr>
          <a:xfrm>
            <a:off x="11101320" y="6467400"/>
            <a:ext cx="2174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30C27A3-E2D9-411F-A1EB-BC1FBB6515B6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466800" y="642960"/>
            <a:ext cx="5251320" cy="63504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RELATED WORK (2024-2026)</a:t>
            </a:r>
            <a:endParaRPr lang="en-US" sz="4000" b="0" strike="noStrike" spc="-1">
              <a:solidFill>
                <a:srgbClr val="1F497D"/>
              </a:solidFill>
              <a:latin typeface="Calibri"/>
            </a:endParaRPr>
          </a:p>
        </p:txBody>
      </p:sp>
      <p:pic>
        <p:nvPicPr>
          <p:cNvPr id="38" name="object 3"/>
          <p:cNvPicPr/>
          <p:nvPr/>
        </p:nvPicPr>
        <p:blipFill>
          <a:blip r:embed="rId2"/>
          <a:stretch/>
        </p:blipFill>
        <p:spPr>
          <a:xfrm>
            <a:off x="2976480" y="52560"/>
            <a:ext cx="5313600" cy="5443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39" name="Table 38"/>
          <p:cNvGraphicFramePr/>
          <p:nvPr/>
        </p:nvGraphicFramePr>
        <p:xfrm>
          <a:off x="152280" y="1278000"/>
          <a:ext cx="11963520" cy="5189400"/>
        </p:xfrm>
        <a:graphic>
          <a:graphicData uri="http://schemas.openxmlformats.org/drawingml/2006/table">
            <a:tbl>
              <a:tblPr/>
              <a:tblGrid>
                <a:gridCol w="966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0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58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4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S.NO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marL="1069920" indent="-406440">
                        <a:lnSpc>
                          <a:spcPct val="100000"/>
                        </a:lnSpc>
                        <a:spcBef>
                          <a:spcPts val="224"/>
                        </a:spcBef>
                        <a:tabLst>
                          <a:tab pos="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AUTHOR(S), YEAR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marL="144360" indent="-1440" algn="ctr">
                        <a:lnSpc>
                          <a:spcPct val="100000"/>
                        </a:lnSpc>
                        <a:spcBef>
                          <a:spcPts val="224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TITLE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marL="290520">
                        <a:lnSpc>
                          <a:spcPct val="100000"/>
                        </a:lnSpc>
                        <a:spcBef>
                          <a:spcPts val="224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TOOLS / TECHNOLOGIES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marL="290520" indent="609480">
                        <a:lnSpc>
                          <a:spcPct val="100000"/>
                        </a:lnSpc>
                        <a:spcBef>
                          <a:spcPts val="224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RESEARCH GAP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4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Camarmas-Alonso et al., 2024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CREATOR: An Educational IDE for RISC-V Programming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Browser IDE; RISC-V, MIPS32, Z80 architectures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Targets RISC-V/MIPS/Z80; no dedicated 8085/8086 assembler or opcode-table support.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4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8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Giorgi &amp; Mariotti, 2025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8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WebRISC-V: A 64-bit RISC-V Pipeline Simulator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8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PHP back end, HTML/CSS/JS front end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8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Focuses on RISC-V pipeline stages only; no CISC-style opcode/operand decoding.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7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4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8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Newhall et al., 2025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8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ASM Visualizer: A Learning Tool for Assembly Programming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8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Web-based x86 disassembly visualizer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8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Visualizes pre-compiled binaries; lacks a live assembler and CPU execution engine.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4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8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Wen et al., 2026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8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Playsemble: Learning Low-Level Programming Through Interactive Games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8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Browser code editor, CPU emulator, gamified debugger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8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Gamified engagement layer, but limited flag/addressing-mode depth for classic microprocessors.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object 5"/>
          <p:cNvSpPr/>
          <p:nvPr/>
        </p:nvSpPr>
        <p:spPr>
          <a:xfrm>
            <a:off x="911160" y="6467400"/>
            <a:ext cx="99396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27.07.2026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object 6"/>
          <p:cNvSpPr/>
          <p:nvPr/>
        </p:nvSpPr>
        <p:spPr>
          <a:xfrm>
            <a:off x="5462640" y="6467400"/>
            <a:ext cx="12668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CAPSTONE PROJECT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object 7"/>
          <p:cNvSpPr/>
          <p:nvPr/>
        </p:nvSpPr>
        <p:spPr>
          <a:xfrm>
            <a:off x="11101320" y="6467400"/>
            <a:ext cx="2174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52116DD-32CC-4B22-9AA9-A952B94D0790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-1752480" y="664920"/>
            <a:ext cx="11067840" cy="1182600"/>
          </a:xfrm>
          <a:prstGeom prst="rect">
            <a:avLst/>
          </a:prstGeom>
          <a:noFill/>
          <a:ln w="0">
            <a:noFill/>
          </a:ln>
        </p:spPr>
        <p:txBody>
          <a:bodyPr lIns="0" tIns="252720" rIns="0" bIns="0" anchor="t">
            <a:noAutofit/>
          </a:bodyPr>
          <a:lstStyle/>
          <a:p>
            <a:pPr marL="38448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SYSTEM ARCHITECTURE</a:t>
            </a:r>
            <a:endParaRPr lang="en-US" sz="4400" b="0" strike="noStrike" spc="-1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32" name="object 3"/>
          <p:cNvSpPr/>
          <p:nvPr/>
        </p:nvSpPr>
        <p:spPr>
          <a:xfrm>
            <a:off x="650880" y="1523880"/>
            <a:ext cx="11125080" cy="440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Browser Client hosts three modules: Assembler &amp; Decoder, CPU Execution Engine, and Web UI &amp; Debugger.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Module 1 provides a code editor with step controls; Module 2 handles the parser and opcode table.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Module 2 also manages registers, flags, and the ALU; Module 3 renders the visualizer.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Data flow: source code to tokens/opcodes to CPU state stream to live visual trace, with step/run/reset looping back from the UI.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object 4"/>
          <p:cNvPicPr/>
          <p:nvPr/>
        </p:nvPicPr>
        <p:blipFill>
          <a:blip r:embed="rId2"/>
          <a:stretch/>
        </p:blipFill>
        <p:spPr>
          <a:xfrm>
            <a:off x="3438360" y="168120"/>
            <a:ext cx="5313600" cy="544680"/>
          </a:xfrm>
          <a:prstGeom prst="rect">
            <a:avLst/>
          </a:prstGeom>
          <a:ln w="0">
            <a:noFill/>
          </a:ln>
        </p:spPr>
      </p:pic>
      <p:sp>
        <p:nvSpPr>
          <p:cNvPr id="34" name="object 5"/>
          <p:cNvSpPr/>
          <p:nvPr/>
        </p:nvSpPr>
        <p:spPr>
          <a:xfrm>
            <a:off x="685800" y="6467400"/>
            <a:ext cx="90792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27.07.2026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object 6"/>
          <p:cNvSpPr/>
          <p:nvPr/>
        </p:nvSpPr>
        <p:spPr>
          <a:xfrm>
            <a:off x="5462640" y="6467400"/>
            <a:ext cx="12668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CAPSTONE PROJECT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object 7"/>
          <p:cNvSpPr/>
          <p:nvPr/>
        </p:nvSpPr>
        <p:spPr>
          <a:xfrm>
            <a:off x="11101320" y="6467400"/>
            <a:ext cx="2174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30C27A3-E2D9-411F-A1EB-BC1FBB6515B6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-1752480" y="664920"/>
            <a:ext cx="11067840" cy="1182600"/>
          </a:xfrm>
          <a:prstGeom prst="rect">
            <a:avLst/>
          </a:prstGeom>
          <a:noFill/>
          <a:ln w="0">
            <a:noFill/>
          </a:ln>
        </p:spPr>
        <p:txBody>
          <a:bodyPr lIns="0" tIns="252720" rIns="0" bIns="0" anchor="t">
            <a:noAutofit/>
          </a:bodyPr>
          <a:lstStyle/>
          <a:p>
            <a:pPr marL="38448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MODULE 1 -- ASSEMBLER &amp; INSTRUCTION DECODER</a:t>
            </a:r>
            <a:endParaRPr lang="en-US" sz="3600" b="0" strike="noStrike" spc="-1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32" name="object 3"/>
          <p:cNvSpPr/>
          <p:nvPr/>
        </p:nvSpPr>
        <p:spPr>
          <a:xfrm>
            <a:off x="650880" y="2032000"/>
            <a:ext cx="11125080" cy="440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Objective: convert 8085/8086 assembly mnemonics into accurate, byte-level machine code.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Objective: detect syntax errors before execution, preventing invalid code from reaching the CPU engine.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Methodology: lexical analysis tokenizes each line into mnemonic, operands, labels, and directives.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Methodology: a two-pass assembler resolves labels in pass 1, then emits machine code in pass 2.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object 4"/>
          <p:cNvPicPr/>
          <p:nvPr/>
        </p:nvPicPr>
        <p:blipFill>
          <a:blip r:embed="rId2"/>
          <a:stretch/>
        </p:blipFill>
        <p:spPr>
          <a:xfrm>
            <a:off x="3438360" y="168120"/>
            <a:ext cx="5313600" cy="544680"/>
          </a:xfrm>
          <a:prstGeom prst="rect">
            <a:avLst/>
          </a:prstGeom>
          <a:ln w="0">
            <a:noFill/>
          </a:ln>
        </p:spPr>
      </p:pic>
      <p:sp>
        <p:nvSpPr>
          <p:cNvPr id="34" name="object 5"/>
          <p:cNvSpPr/>
          <p:nvPr/>
        </p:nvSpPr>
        <p:spPr>
          <a:xfrm>
            <a:off x="685800" y="6467400"/>
            <a:ext cx="90792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27.07.2026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object 6"/>
          <p:cNvSpPr/>
          <p:nvPr/>
        </p:nvSpPr>
        <p:spPr>
          <a:xfrm>
            <a:off x="5462640" y="6467400"/>
            <a:ext cx="12668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CAPSTONE PROJECT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object 7"/>
          <p:cNvSpPr/>
          <p:nvPr/>
        </p:nvSpPr>
        <p:spPr>
          <a:xfrm>
            <a:off x="11101320" y="6467400"/>
            <a:ext cx="2174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30C27A3-E2D9-411F-A1EB-BC1FBB6515B6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-1752480" y="664920"/>
            <a:ext cx="11067840" cy="1182600"/>
          </a:xfrm>
          <a:prstGeom prst="rect">
            <a:avLst/>
          </a:prstGeom>
          <a:noFill/>
          <a:ln w="0">
            <a:noFill/>
          </a:ln>
        </p:spPr>
        <p:txBody>
          <a:bodyPr lIns="0" tIns="252720" rIns="0" bIns="0" anchor="t">
            <a:noAutofit/>
          </a:bodyPr>
          <a:lstStyle/>
          <a:p>
            <a:pPr marL="38448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MODULE 1 -- IMPLEMENTATION &amp; OUTCOME</a:t>
            </a:r>
            <a:endParaRPr lang="en-US" sz="3600" b="0" strike="noStrike" spc="-1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32" name="object 3"/>
          <p:cNvSpPr/>
          <p:nvPr/>
        </p:nvSpPr>
        <p:spPr>
          <a:xfrm>
            <a:off x="650880" y="2032000"/>
            <a:ext cx="11125080" cy="440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Browser code editor with live mnemonic and operand highlighting, backed by a tokenizer and finite grammar.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Opcode table (structured JS/JSON) maps each mnemonic + operand pattern to its opcode byte(s).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Outcome: error-free, byte-accurate machine code, verified against reference assembler output.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Outcome: produces the verified instruction/opcode feed consumed directly by Module 2's execution engine.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object 4"/>
          <p:cNvPicPr/>
          <p:nvPr/>
        </p:nvPicPr>
        <p:blipFill>
          <a:blip r:embed="rId2"/>
          <a:stretch/>
        </p:blipFill>
        <p:spPr>
          <a:xfrm>
            <a:off x="3438360" y="168120"/>
            <a:ext cx="5313600" cy="544680"/>
          </a:xfrm>
          <a:prstGeom prst="rect">
            <a:avLst/>
          </a:prstGeom>
          <a:ln w="0">
            <a:noFill/>
          </a:ln>
        </p:spPr>
      </p:pic>
      <p:sp>
        <p:nvSpPr>
          <p:cNvPr id="34" name="object 5"/>
          <p:cNvSpPr/>
          <p:nvPr/>
        </p:nvSpPr>
        <p:spPr>
          <a:xfrm>
            <a:off x="685800" y="6467400"/>
            <a:ext cx="90792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27.07.2026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object 6"/>
          <p:cNvSpPr/>
          <p:nvPr/>
        </p:nvSpPr>
        <p:spPr>
          <a:xfrm>
            <a:off x="5462640" y="6467400"/>
            <a:ext cx="12668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CAPSTONE PROJECT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object 7"/>
          <p:cNvSpPr/>
          <p:nvPr/>
        </p:nvSpPr>
        <p:spPr>
          <a:xfrm>
            <a:off x="11101320" y="6467400"/>
            <a:ext cx="2174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30C27A3-E2D9-411F-A1EB-BC1FBB6515B6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-1752480" y="664920"/>
            <a:ext cx="11067840" cy="1182600"/>
          </a:xfrm>
          <a:prstGeom prst="rect">
            <a:avLst/>
          </a:prstGeom>
          <a:noFill/>
          <a:ln w="0">
            <a:noFill/>
          </a:ln>
        </p:spPr>
        <p:txBody>
          <a:bodyPr lIns="0" tIns="252720" rIns="0" bIns="0" anchor="t">
            <a:noAutofit/>
          </a:bodyPr>
          <a:lstStyle/>
          <a:p>
            <a:pPr marL="38448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MODULE 2 -- CPU EXECUTION ENGINE</a:t>
            </a:r>
            <a:endParaRPr lang="en-US" sz="3600" b="0" strike="noStrike" spc="-1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32" name="object 3"/>
          <p:cNvSpPr/>
          <p:nvPr/>
        </p:nvSpPr>
        <p:spPr>
          <a:xfrm>
            <a:off x="650880" y="2032000"/>
            <a:ext cx="11125080" cy="440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Objective: simulate the fetch-decode-execute cycle with accurate register and flag updates.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Objective: model registers, the flag register, memory, and the ALU; support common addressing modes.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Methodology: a finite state machine drives each cycle -- Fetch, Decode, Operand Fetch, Execute, Write-back.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Methodology: ALU operations update Zero, Carry, Sign, and Parity flags per instruction semantics.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object 4"/>
          <p:cNvPicPr/>
          <p:nvPr/>
        </p:nvPicPr>
        <p:blipFill>
          <a:blip r:embed="rId2"/>
          <a:stretch/>
        </p:blipFill>
        <p:spPr>
          <a:xfrm>
            <a:off x="3438360" y="168120"/>
            <a:ext cx="5313600" cy="544680"/>
          </a:xfrm>
          <a:prstGeom prst="rect">
            <a:avLst/>
          </a:prstGeom>
          <a:ln w="0">
            <a:noFill/>
          </a:ln>
        </p:spPr>
      </p:pic>
      <p:sp>
        <p:nvSpPr>
          <p:cNvPr id="34" name="object 5"/>
          <p:cNvSpPr/>
          <p:nvPr/>
        </p:nvSpPr>
        <p:spPr>
          <a:xfrm>
            <a:off x="685800" y="6467400"/>
            <a:ext cx="90792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27.07.2026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object 6"/>
          <p:cNvSpPr/>
          <p:nvPr/>
        </p:nvSpPr>
        <p:spPr>
          <a:xfrm>
            <a:off x="5462640" y="6467400"/>
            <a:ext cx="12668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CAPSTONE PROJECT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object 7"/>
          <p:cNvSpPr/>
          <p:nvPr/>
        </p:nvSpPr>
        <p:spPr>
          <a:xfrm>
            <a:off x="11101320" y="6467400"/>
            <a:ext cx="2174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30C27A3-E2D9-411F-A1EB-BC1FBB6515B6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-1752480" y="664920"/>
            <a:ext cx="11067840" cy="1182600"/>
          </a:xfrm>
          <a:prstGeom prst="rect">
            <a:avLst/>
          </a:prstGeom>
          <a:noFill/>
          <a:ln w="0">
            <a:noFill/>
          </a:ln>
        </p:spPr>
        <p:txBody>
          <a:bodyPr lIns="0" tIns="252720" rIns="0" bIns="0" anchor="t">
            <a:noAutofit/>
          </a:bodyPr>
          <a:lstStyle/>
          <a:p>
            <a:pPr marL="38448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MODULE 2 -- IMPLEMENTATION &amp; OUTCOME</a:t>
            </a:r>
            <a:endParaRPr lang="en-US" sz="3600" b="0" strike="noStrike" spc="-1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32" name="object 3"/>
          <p:cNvSpPr/>
          <p:nvPr/>
        </p:nvSpPr>
        <p:spPr>
          <a:xfrm>
            <a:off x="650880" y="2032000"/>
            <a:ext cx="11125080" cy="440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A JavaScript CPU-state object holds registers, flags, and a simulated memory array.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Dedicated instruction handlers implement each opcode's execute logic and flag updates.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Outcome: accurate register and flag updates matching real 8085/8086 behaviour on test programs.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Outcome: a reliable, cycle-by-cycle state stream that powers real-time visualization in Module 3.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object 4"/>
          <p:cNvPicPr/>
          <p:nvPr/>
        </p:nvPicPr>
        <p:blipFill>
          <a:blip r:embed="rId2"/>
          <a:stretch/>
        </p:blipFill>
        <p:spPr>
          <a:xfrm>
            <a:off x="3438360" y="168120"/>
            <a:ext cx="5313600" cy="544680"/>
          </a:xfrm>
          <a:prstGeom prst="rect">
            <a:avLst/>
          </a:prstGeom>
          <a:ln w="0">
            <a:noFill/>
          </a:ln>
        </p:spPr>
      </p:pic>
      <p:sp>
        <p:nvSpPr>
          <p:cNvPr id="34" name="object 5"/>
          <p:cNvSpPr/>
          <p:nvPr/>
        </p:nvSpPr>
        <p:spPr>
          <a:xfrm>
            <a:off x="685800" y="6467400"/>
            <a:ext cx="90792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27.07.2026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object 6"/>
          <p:cNvSpPr/>
          <p:nvPr/>
        </p:nvSpPr>
        <p:spPr>
          <a:xfrm>
            <a:off x="5462640" y="6467400"/>
            <a:ext cx="12668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CAPSTONE PROJECT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object 7"/>
          <p:cNvSpPr/>
          <p:nvPr/>
        </p:nvSpPr>
        <p:spPr>
          <a:xfrm>
            <a:off x="11101320" y="6467400"/>
            <a:ext cx="2174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30C27A3-E2D9-411F-A1EB-BC1FBB6515B6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-1752480" y="664920"/>
            <a:ext cx="11067840" cy="1182600"/>
          </a:xfrm>
          <a:prstGeom prst="rect">
            <a:avLst/>
          </a:prstGeom>
          <a:noFill/>
          <a:ln w="0">
            <a:noFill/>
          </a:ln>
        </p:spPr>
        <p:txBody>
          <a:bodyPr lIns="0" tIns="252720" rIns="0" bIns="0" anchor="t">
            <a:noAutofit/>
          </a:bodyPr>
          <a:lstStyle/>
          <a:p>
            <a:pPr marL="38448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MODULE 3 -- WEB UI &amp; DEBUGGER</a:t>
            </a:r>
            <a:endParaRPr lang="en-US" sz="3600" b="0" strike="noStrike" spc="-1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32" name="object 3"/>
          <p:cNvSpPr/>
          <p:nvPr/>
        </p:nvSpPr>
        <p:spPr>
          <a:xfrm>
            <a:off x="650880" y="2032000"/>
            <a:ext cx="11125080" cy="440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Objective: present a browser-based interface for writing, running, and stepping through assembly programs.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Objective: enforce access control and preserve data integrity across editing, execution, and reset.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Methodology: event-driven UI architecture -- user actions trigger controller functions that call the CPU engine.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Methodology: HTML/CSS layout binds register, flag, and memory panels directly to engine state snapshots.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object 4"/>
          <p:cNvPicPr/>
          <p:nvPr/>
        </p:nvPicPr>
        <p:blipFill>
          <a:blip r:embed="rId2"/>
          <a:stretch/>
        </p:blipFill>
        <p:spPr>
          <a:xfrm>
            <a:off x="3438360" y="168120"/>
            <a:ext cx="5313600" cy="544680"/>
          </a:xfrm>
          <a:prstGeom prst="rect">
            <a:avLst/>
          </a:prstGeom>
          <a:ln w="0">
            <a:noFill/>
          </a:ln>
        </p:spPr>
      </p:pic>
      <p:sp>
        <p:nvSpPr>
          <p:cNvPr id="34" name="object 5"/>
          <p:cNvSpPr/>
          <p:nvPr/>
        </p:nvSpPr>
        <p:spPr>
          <a:xfrm>
            <a:off x="685800" y="6467400"/>
            <a:ext cx="90792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27.07.2026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object 6"/>
          <p:cNvSpPr/>
          <p:nvPr/>
        </p:nvSpPr>
        <p:spPr>
          <a:xfrm>
            <a:off x="5462640" y="6467400"/>
            <a:ext cx="12668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CAPSTONE PROJECT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object 7"/>
          <p:cNvSpPr/>
          <p:nvPr/>
        </p:nvSpPr>
        <p:spPr>
          <a:xfrm>
            <a:off x="11101320" y="6467400"/>
            <a:ext cx="2174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30C27A3-E2D9-411F-A1EB-BC1FBB6515B6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-1752480" y="664920"/>
            <a:ext cx="11067840" cy="1182600"/>
          </a:xfrm>
          <a:prstGeom prst="rect">
            <a:avLst/>
          </a:prstGeom>
          <a:noFill/>
          <a:ln w="0">
            <a:noFill/>
          </a:ln>
        </p:spPr>
        <p:txBody>
          <a:bodyPr lIns="0" tIns="252720" rIns="0" bIns="0" anchor="t">
            <a:noAutofit/>
          </a:bodyPr>
          <a:lstStyle/>
          <a:p>
            <a:pPr marL="38448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MODULE 3 -- IMPLEMENTATION &amp; OUTCOME</a:t>
            </a:r>
            <a:endParaRPr lang="en-US" sz="3600" b="0" strike="noStrike" spc="-1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32" name="object 3"/>
          <p:cNvSpPr/>
          <p:nvPr/>
        </p:nvSpPr>
        <p:spPr>
          <a:xfrm>
            <a:off x="650880" y="2032000"/>
            <a:ext cx="11125080" cy="440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HTML/CSS/JS front end: code editor pane, register/flag panel, memory viewer, and control toolbar.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Step controls dispatch to the CPU engine and refresh all visual panels after each cycle.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Outcome: real-time, synchronized visual trace of registers, flags, and memory throughout execution.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Outcome: stable, tamper-resistant session state across repeated step / run / reset cycles.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object 4"/>
          <p:cNvPicPr/>
          <p:nvPr/>
        </p:nvPicPr>
        <p:blipFill>
          <a:blip r:embed="rId2"/>
          <a:stretch/>
        </p:blipFill>
        <p:spPr>
          <a:xfrm>
            <a:off x="3438360" y="168120"/>
            <a:ext cx="5313600" cy="544680"/>
          </a:xfrm>
          <a:prstGeom prst="rect">
            <a:avLst/>
          </a:prstGeom>
          <a:ln w="0">
            <a:noFill/>
          </a:ln>
        </p:spPr>
      </p:pic>
      <p:sp>
        <p:nvSpPr>
          <p:cNvPr id="34" name="object 5"/>
          <p:cNvSpPr/>
          <p:nvPr/>
        </p:nvSpPr>
        <p:spPr>
          <a:xfrm>
            <a:off x="685800" y="6467400"/>
            <a:ext cx="90792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27.07.2026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object 6"/>
          <p:cNvSpPr/>
          <p:nvPr/>
        </p:nvSpPr>
        <p:spPr>
          <a:xfrm>
            <a:off x="5462640" y="6467400"/>
            <a:ext cx="12668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CAPSTONE PROJECT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object 7"/>
          <p:cNvSpPr/>
          <p:nvPr/>
        </p:nvSpPr>
        <p:spPr>
          <a:xfrm>
            <a:off x="11101320" y="6467400"/>
            <a:ext cx="2174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30C27A3-E2D9-411F-A1EB-BC1FBB6515B6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-1905480" y="601560"/>
            <a:ext cx="11068200" cy="1182960"/>
          </a:xfrm>
          <a:prstGeom prst="rect">
            <a:avLst/>
          </a:prstGeom>
          <a:noFill/>
          <a:ln w="0">
            <a:noFill/>
          </a:ln>
        </p:spPr>
        <p:txBody>
          <a:bodyPr lIns="0" tIns="252720" rIns="0" bIns="0" anchor="t">
            <a:noAutofit/>
          </a:bodyPr>
          <a:lstStyle/>
          <a:p>
            <a:pPr marL="41544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CONCLUSION</a:t>
            </a:r>
            <a:endParaRPr lang="en-US" sz="4400" b="0" strike="noStrike" spc="-1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163" name="object 3"/>
          <p:cNvSpPr/>
          <p:nvPr/>
        </p:nvSpPr>
        <p:spPr>
          <a:xfrm>
            <a:off x="685800" y="1371600"/>
            <a:ext cx="10896480" cy="440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The three integrated modules -- Assembler &amp; Decoder, CPU Execution Engine, and Web UI &amp; Debugger -- form a complete, browser-only 8085/8086 learning environment.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The system converts assembly source into verified machine code, executes it with cycle-accurate updates, and visualizes every step -- no local installation required.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Early testing indicates error-free code generation, accurate CPU state updates, and clearer conceptual understanding.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The modular pipeline design (assemble, execute, visualize) keeps each subsystem independently testable while staying tightly integrated.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object 4"/>
          <p:cNvPicPr/>
          <p:nvPr/>
        </p:nvPicPr>
        <p:blipFill>
          <a:blip r:embed="rId2"/>
          <a:stretch/>
        </p:blipFill>
        <p:spPr>
          <a:xfrm>
            <a:off x="2805120" y="1440"/>
            <a:ext cx="5315040" cy="544680"/>
          </a:xfrm>
          <a:prstGeom prst="rect">
            <a:avLst/>
          </a:prstGeom>
          <a:ln w="0">
            <a:noFill/>
          </a:ln>
        </p:spPr>
      </p:pic>
      <p:sp>
        <p:nvSpPr>
          <p:cNvPr id="165" name="object 5"/>
          <p:cNvSpPr/>
          <p:nvPr/>
        </p:nvSpPr>
        <p:spPr>
          <a:xfrm>
            <a:off x="911160" y="6467400"/>
            <a:ext cx="682560" cy="31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27.07.2026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object 6"/>
          <p:cNvSpPr/>
          <p:nvPr/>
        </p:nvSpPr>
        <p:spPr>
          <a:xfrm>
            <a:off x="5462640" y="6467400"/>
            <a:ext cx="12668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CAPSTONE PROJECT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object 7"/>
          <p:cNvSpPr/>
          <p:nvPr/>
        </p:nvSpPr>
        <p:spPr>
          <a:xfrm>
            <a:off x="11101320" y="6467400"/>
            <a:ext cx="2174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D1419EC-FDF2-422B-8474-01A326E109AA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39320" y="547560"/>
            <a:ext cx="11068200" cy="1182960"/>
          </a:xfrm>
          <a:prstGeom prst="rect">
            <a:avLst/>
          </a:prstGeom>
          <a:noFill/>
          <a:ln w="0">
            <a:noFill/>
          </a:ln>
        </p:spPr>
        <p:txBody>
          <a:bodyPr lIns="0" tIns="252720" rIns="0" bIns="0" anchor="t">
            <a:noAutofit/>
          </a:bodyPr>
          <a:lstStyle/>
          <a:p>
            <a:pPr marL="251784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FUTURE WORK</a:t>
            </a:r>
            <a:endParaRPr lang="en-US" sz="4400" b="0" strike="noStrike" spc="-1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169" name="object 3"/>
          <p:cNvSpPr/>
          <p:nvPr/>
        </p:nvSpPr>
        <p:spPr>
          <a:xfrm>
            <a:off x="893880" y="1523880"/>
            <a:ext cx="10424880" cy="440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Extend opcode/instruction coverage to the complete 8085 and 8086 instruction sets, including interrupts and I/O.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Add shared sessions, instructor dashboards, and auto-graded assignments for classroom-scale use.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Introduce cycle-count and instruction-frequency analytics, with export/import of programs and traces.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Explore a mobile-responsive UI and offline (PWA) support for use without continuous internet access.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" name="object 4"/>
          <p:cNvPicPr/>
          <p:nvPr/>
        </p:nvPicPr>
        <p:blipFill>
          <a:blip r:embed="rId2"/>
          <a:stretch/>
        </p:blipFill>
        <p:spPr>
          <a:xfrm>
            <a:off x="3016080" y="0"/>
            <a:ext cx="5313600" cy="544680"/>
          </a:xfrm>
          <a:prstGeom prst="rect">
            <a:avLst/>
          </a:prstGeom>
          <a:ln w="0">
            <a:noFill/>
          </a:ln>
        </p:spPr>
      </p:pic>
      <p:sp>
        <p:nvSpPr>
          <p:cNvPr id="171" name="object 5"/>
          <p:cNvSpPr/>
          <p:nvPr/>
        </p:nvSpPr>
        <p:spPr>
          <a:xfrm>
            <a:off x="911160" y="6467400"/>
            <a:ext cx="682560" cy="31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27.07.2026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object 6"/>
          <p:cNvSpPr/>
          <p:nvPr/>
        </p:nvSpPr>
        <p:spPr>
          <a:xfrm>
            <a:off x="5462640" y="6467400"/>
            <a:ext cx="12668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CAPSTONE PROJECT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object 7"/>
          <p:cNvSpPr/>
          <p:nvPr/>
        </p:nvSpPr>
        <p:spPr>
          <a:xfrm>
            <a:off x="11101320" y="6467400"/>
            <a:ext cx="2174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E46FC23-6736-40F5-BFFA-DA8BFB07869C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-1448280" y="417240"/>
            <a:ext cx="11068200" cy="1182600"/>
          </a:xfrm>
          <a:prstGeom prst="rect">
            <a:avLst/>
          </a:prstGeom>
          <a:noFill/>
          <a:ln w="0">
            <a:noFill/>
          </a:ln>
        </p:spPr>
        <p:txBody>
          <a:bodyPr lIns="0" tIns="252720" rIns="0" bIns="0" anchor="t">
            <a:noAutofit/>
          </a:bodyPr>
          <a:lstStyle/>
          <a:p>
            <a:pPr marL="420048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REFERENCES</a:t>
            </a:r>
            <a:endParaRPr lang="en-US" sz="4400" b="0" strike="noStrike" spc="-1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175" name="object 3"/>
          <p:cNvSpPr/>
          <p:nvPr/>
        </p:nvSpPr>
        <p:spPr>
          <a:xfrm>
            <a:off x="884160" y="1371600"/>
            <a:ext cx="10625040" cy="440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Camarmas-Alonso, D., Garcia-Carballeira, F., Calderon-Mateos, A., &amp; Del-Pozo-Punal, E. (2024). </a:t>
            </a:r>
            <a:r>
              <a:rPr lang="en-IN" sz="24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CREATOR: An educational IDE for RISC-V programming</a:t>
            </a: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. IEEE Access.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Giorgi, R., &amp; Mariotti, G. (2025). </a:t>
            </a:r>
            <a:r>
              <a:rPr lang="en-IN" sz="24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WebRISC-V: A 64-bit RISC-V pipeline simulator for computer architecture classes</a:t>
            </a: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. arXiv:2504.03722.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Newhall, T., Webb, K., Romea, I., Stavis, E., &amp; Matthews, S. (2025). </a:t>
            </a:r>
            <a:r>
              <a:rPr lang="en-IN" sz="24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ASM Visualizer: A learning tool for assembly programming</a:t>
            </a: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. SIGCSE TS 2025.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• Wen, E., Denny, P., Luxton-Reilly, A., Ma, S., Sham, B., Ni, C., Seo, J., &amp; Yang, Y. (2026). </a:t>
            </a:r>
            <a:r>
              <a:rPr lang="en-IN" sz="24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Playsemble: Learning low-level programming through interactive games</a:t>
            </a:r>
            <a:r>
              <a:rPr lang="en-IN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. arXiv:2602.20167.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object 4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177" name="object 5"/>
          <p:cNvSpPr/>
          <p:nvPr/>
        </p:nvSpPr>
        <p:spPr>
          <a:xfrm>
            <a:off x="911160" y="6467400"/>
            <a:ext cx="682560" cy="31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27.07.2026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object 6"/>
          <p:cNvSpPr/>
          <p:nvPr/>
        </p:nvSpPr>
        <p:spPr>
          <a:xfrm>
            <a:off x="5462640" y="6467400"/>
            <a:ext cx="12668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CAPSTONE PROJECT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object 7"/>
          <p:cNvSpPr/>
          <p:nvPr/>
        </p:nvSpPr>
        <p:spPr>
          <a:xfrm>
            <a:off x="11101320" y="6467400"/>
            <a:ext cx="2174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3DA62EE-CD82-49B3-85AC-F296575610BF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16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3472920" y="2974680"/>
            <a:ext cx="5434200" cy="11221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7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THANK YOU</a:t>
            </a:r>
            <a:endParaRPr lang="en-US" sz="7200" b="0" strike="noStrike" spc="-1">
              <a:solidFill>
                <a:srgbClr val="1F497D"/>
              </a:solidFill>
              <a:latin typeface="Calibri"/>
            </a:endParaRPr>
          </a:p>
        </p:txBody>
      </p:sp>
      <p:pic>
        <p:nvPicPr>
          <p:cNvPr id="181" name="object 3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182" name="object 4"/>
          <p:cNvSpPr/>
          <p:nvPr/>
        </p:nvSpPr>
        <p:spPr>
          <a:xfrm>
            <a:off x="911160" y="6467400"/>
            <a:ext cx="682560" cy="31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27.07.2026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object 5"/>
          <p:cNvSpPr/>
          <p:nvPr/>
        </p:nvSpPr>
        <p:spPr>
          <a:xfrm>
            <a:off x="5462640" y="6467400"/>
            <a:ext cx="12668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CAPSTONE PROJECT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object 6"/>
          <p:cNvSpPr/>
          <p:nvPr/>
        </p:nvSpPr>
        <p:spPr>
          <a:xfrm>
            <a:off x="11101320" y="6467400"/>
            <a:ext cx="2174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DC0CC04-AFA9-4FDB-9301-1728AC79F68B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17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279</TotalTime>
  <Words>1440</Words>
  <Application>Microsoft Office PowerPoint</Application>
  <PresentationFormat>Custom</PresentationFormat>
  <Paragraphs>159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</vt:lpstr>
      <vt:lpstr>WEB-BASED 8085/8086 VIRTUAL TRAINER &amp; ASSEMBLER-SIMULATOR</vt:lpstr>
      <vt:lpstr>AGENDA</vt:lpstr>
      <vt:lpstr>OVERVIEW</vt:lpstr>
      <vt:lpstr>BACKGROUND</vt:lpstr>
      <vt:lpstr>PROBLEM STATEMENT &amp; MOTIVATION</vt:lpstr>
      <vt:lpstr>RELATED WORK (2024-2026)</vt:lpstr>
      <vt:lpstr>SYSTEM ARCHITECTURE</vt:lpstr>
      <vt:lpstr>MODULE 1 -- ASSEMBLER &amp; INSTRUCTION DECODER</vt:lpstr>
      <vt:lpstr>MODULE 1 -- IMPLEMENTATION &amp; OUTCOME</vt:lpstr>
      <vt:lpstr>MODULE 2 -- CPU EXECUTION ENGINE</vt:lpstr>
      <vt:lpstr>MODULE 2 -- IMPLEMENTATION &amp; OUTCOME</vt:lpstr>
      <vt:lpstr>MODULE 3 -- WEB UI &amp; DEBUGGER</vt:lpstr>
      <vt:lpstr>MODULE 3 -- IMPLEMENTATION &amp; OUTCOME</vt:lpstr>
      <vt:lpstr>CONCLUSION</vt:lpstr>
      <vt:lpstr>FUTURE 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Shen Ivin Clement</cp:lastModifiedBy>
  <cp:revision>1</cp:revision>
  <dcterms:modified xsi:type="dcterms:W3CDTF">2026-08-24T07:57:58Z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2026-02-28T05:07:31Z</dcterms:created>
  <dc:creator>Beulah</dc:creator>
  <dc:description/>
  <dc:language>en-US</dc:language>
  <cp:lastModifiedBy>Rishwanth KC</cp:lastModifiedBy>
  <dcterms:modified xsi:type="dcterms:W3CDTF">2026-06-24T13:15:26Z</dcterms:modified>
  <cp:revision>23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2026-02-28T00:00:00Z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2026-02-28T00:00:00Z</vt:filetime>
  </property>
</Properties>
</file>